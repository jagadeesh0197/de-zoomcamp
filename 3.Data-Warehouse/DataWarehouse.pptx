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C9FD09-E511-4865-A6CE-89EB92E27288}">
  <a:tblStyle styleId="{D5C9FD09-E511-4865-A6CE-89EB92E272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0eebc44ce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0eebc44ce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0eebc44c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0eebc44c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eebc44ce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0eebc44ce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0eebc44ce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0eebc44ce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0eebc44ce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0eebc44ce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0eebc44ce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0eebc44ce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0eebc44ce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0eebc44ce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0eebc44ce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0eebc44ce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0c8bcef4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0c8bcef4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0c8bcef47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0c8bcef4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0c8bcef47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0c8bcef47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0c8bcef47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0c8bcef47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0c8bcef47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0c8bcef4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0c8bcef47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0c8bcef47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0eebc44ce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0eebc44ce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eebc44ce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0eebc44ce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0eebc44ce4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0eebc44ce4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0eebc44ce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0eebc44ce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0eebc44ce4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0eebc44ce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0eebc44ce4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0eebc44ce4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0eebc44ce4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0eebc44ce4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0c8bcef47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0c8bcef47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0c8bcef47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0c8bcef47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0c8bcef47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0c8bcef47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c8bcef47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0c8bcef47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0c8bcef47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0c8bcef47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n.wikipedia.org/wiki/Business_reporting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loud.google.com/bigquery/quotas#partitioned_tables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cloud.google.com/bigquery/docs/how-to" TargetMode="External"/><Relationship Id="rId4" Type="http://schemas.openxmlformats.org/officeDocument/2006/relationships/hyperlink" Target="https://research.google/pubs/pub36632/" TargetMode="External"/><Relationship Id="rId5" Type="http://schemas.openxmlformats.org/officeDocument/2006/relationships/hyperlink" Target="https://panoply.io/data-warehouse-guide/bigquery-architecture/" TargetMode="External"/><Relationship Id="rId6" Type="http://schemas.openxmlformats.org/officeDocument/2006/relationships/hyperlink" Target="http://www.goldsborough.me/distributed-systems/2019/05/18/21-09-00-a_look_at_dremel/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Warehouse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OLAP vs OLTP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data warehouse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BigQuery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Partitions and Clustering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Best practices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Internals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ML in BQ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OLAP vs OLTP</a:t>
            </a:r>
            <a:endParaRPr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952500" y="128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{D5C9FD09-E511-4865-A6CE-89EB92E27288}</a:tableStyleId>
              </a:tblPr>
              <a:tblGrid>
                <a:gridCol w="2200325"/>
                <a:gridCol w="2625675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142875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OLTP</a:t>
                      </a:r>
                      <a:endParaRPr b="1"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142875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OLAP</a:t>
                      </a:r>
                      <a:endParaRPr b="1"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142875" marB="95250" marR="285750" marL="2857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Purpose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Control and run essential business operations in real time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Plan, solve problems, support decisions, discover hidden insights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Data updates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Short, fast updates initiated by user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Data periodically refreshed with scheduled, long-running batch jobs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Database design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Normalized databases for efficiency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Denormalized databases for analysis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Space requirements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Generally small if historical data is archived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Generally large due to aggregating large datasets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Google Shape;72;p16"/>
          <p:cNvGraphicFramePr/>
          <p:nvPr/>
        </p:nvGraphicFramePr>
        <p:xfrm>
          <a:off x="351450" y="5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{D5C9FD09-E511-4865-A6CE-89EB92E27288}</a:tableStyleId>
              </a:tblPr>
              <a:tblGrid>
                <a:gridCol w="2282050"/>
                <a:gridCol w="3345350"/>
                <a:gridCol w="2813700"/>
              </a:tblGrid>
              <a:tr h="41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142875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OLTP</a:t>
                      </a:r>
                      <a:endParaRPr b="1"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142875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OLAP</a:t>
                      </a:r>
                      <a:endParaRPr b="1"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142875" marB="95250" marR="285750" marL="285750"/>
                </a:tc>
              </a:tr>
              <a:tr h="1324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B</a:t>
                      </a: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ackup and recovery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Regular backups required to ensure business continuity and meet legal and governance requirements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Lost data can be reloaded from OLTP database as needed in lieu of regular backups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</a:tr>
              <a:tr h="94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Productivity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Increases productivity of end users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Increases productivity of business managers, data analysts, and executives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</a:tr>
              <a:tr h="55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Data view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Lists day-to-day business transactions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Multi-dimensional view of enterprise data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</a:tr>
              <a:tr h="94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User examples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Customer-facing personnel, clerks, online shoppers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Knowledge workers such as data analysts, business analysts, and executives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data warehouse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OLAP 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</a:t>
            </a:r>
            <a:r>
              <a:rPr lang="en"/>
              <a:t>sed for </a:t>
            </a:r>
            <a:r>
              <a:rPr lang="en">
                <a:uFill>
                  <a:noFill/>
                </a:uFill>
                <a:hlinkClick r:id="rId3"/>
              </a:rPr>
              <a:t>reporting</a:t>
            </a:r>
            <a:r>
              <a:rPr lang="en"/>
              <a:t> and data analysis 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0600" y="2149525"/>
            <a:ext cx="4133850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Serverless data warehouse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are no servers to manage or database software to install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Software as well as infrastructure including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scalability</a:t>
            </a:r>
            <a:r>
              <a:rPr lang="en"/>
              <a:t> and </a:t>
            </a:r>
            <a:r>
              <a:rPr b="1" lang="en"/>
              <a:t>high-availability</a:t>
            </a:r>
            <a:endParaRPr b="1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Built-in features like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machine learning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geospatial analysis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business intelligence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BigQuery maximizes flexibility by separating the compute engine that analyzes your data from your storage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 Cost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On demand pricing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1 TB of data processed is $5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Flat rate pricing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Based on number of pre requested slots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100 slots → $2,000/month = 400 TB data processed on demand pricing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Partition</a:t>
            </a:r>
            <a:r>
              <a:rPr lang="en"/>
              <a:t> in BQ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9925" y="945125"/>
            <a:ext cx="6436452" cy="411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in BigQuery</a:t>
            </a:r>
            <a:endParaRPr/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300" y="1089875"/>
            <a:ext cx="6646323" cy="374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/>
          <p:nvPr/>
        </p:nvSpPr>
        <p:spPr>
          <a:xfrm>
            <a:off x="5200950" y="2849625"/>
            <a:ext cx="2667600" cy="688500"/>
          </a:xfrm>
          <a:prstGeom prst="rect">
            <a:avLst/>
          </a:prstGeom>
          <a:noFill/>
          <a:ln cap="flat" cmpd="sng" w="28575">
            <a:solidFill>
              <a:srgbClr val="0645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1"/>
          <p:cNvSpPr/>
          <p:nvPr/>
        </p:nvSpPr>
        <p:spPr>
          <a:xfrm>
            <a:off x="5200950" y="3576225"/>
            <a:ext cx="2667600" cy="4971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 partition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Time-unit column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Ingestion time (_PARTITIONTIME)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Integer range partitioning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using Time unit or ingestion time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Daily (Default)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Hourly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Monthly or yearly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partitions limit is 4000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Resource: https://cloud.google.com/bigquery/docs/partitioned-tables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 Clustering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</a:t>
            </a:r>
            <a:r>
              <a:rPr lang="en"/>
              <a:t>olumns you specify are used to colocate related data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Order of the column is important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order of the specified columns determines the sort order of the data.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Clustering improves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Filter queries</a:t>
            </a:r>
            <a:endParaRPr sz="18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Aggregate queries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Table with data size &lt; 1 GB, don’t show </a:t>
            </a:r>
            <a:r>
              <a:rPr lang="en"/>
              <a:t>significant</a:t>
            </a:r>
            <a:r>
              <a:rPr lang="en"/>
              <a:t> improvement with </a:t>
            </a:r>
            <a:r>
              <a:rPr lang="en"/>
              <a:t>partitioning</a:t>
            </a:r>
            <a:r>
              <a:rPr lang="en"/>
              <a:t> and clustering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specify up to four clustering columns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 Clustering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columns must be top-level, non-repeated columns</a:t>
            </a:r>
            <a:endParaRPr/>
          </a:p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DATE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BOOL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GEOGRAPHY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INT64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NUMERIC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BIGNUMERIC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STRING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TIMESTAMP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DATETIME</a:t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Partitioning vs Clustering</a:t>
            </a:r>
            <a:endParaRPr/>
          </a:p>
        </p:txBody>
      </p:sp>
      <p:graphicFrame>
        <p:nvGraphicFramePr>
          <p:cNvPr id="130" name="Google Shape;130;p25"/>
          <p:cNvGraphicFramePr/>
          <p:nvPr/>
        </p:nvGraphicFramePr>
        <p:xfrm>
          <a:off x="775100" y="1255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{D5C9FD09-E511-4865-A6CE-89EB92E27288}</a:tableStyleId>
              </a:tblPr>
              <a:tblGrid>
                <a:gridCol w="3796900"/>
                <a:gridCol w="37969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Clustering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Partitoning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Cost benefit unknown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Cost known upfront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3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You need more granularity than partitioning alone allows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You need partition-level management.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3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Your queries commonly use filters or aggregation against multiple particular columns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Filter or aggregate on single column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28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 cardinality of the number of values in a column or group of columns is large</a:t>
                      </a:r>
                      <a:br>
                        <a:rPr lang="en"/>
                      </a:b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over paritioning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Partitioning results in a small amount of data per partition (approximately less than 1 GB)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Partitioning results in a large number of partitions beyond the </a:t>
            </a:r>
            <a:r>
              <a:rPr lang="en">
                <a:uFill>
                  <a:noFill/>
                </a:uFill>
                <a:hlinkClick r:id="rId3"/>
              </a:rPr>
              <a:t>limits on partitioned tables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Partitioning results in your mutation operations modifying the majority of partitions in the table frequently (for example, every few minutes)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Automatic reclustering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data is added to a clustered table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the newly inserted data can be written to blocks that contain key ranges that overlap with the key ranges in previously written blocks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These overlapping keys weaken the sort property of the table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maintain the performance characteristics of a clustered table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BigQuery performs automatic re-clustering in the background to restore the sort property of the table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For partitioned tables, clustering is maintained for data within the scope of each partition.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BigQuery-Best Practice</a:t>
            </a:r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Cost reduction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Avoid SELECT *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Price your queries before running them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Use clustered or partitioned tables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Use streaming inserts with caution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Materialize query results in stages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BigQuery-Best Practice</a:t>
            </a:r>
            <a:endParaRPr/>
          </a:p>
        </p:txBody>
      </p:sp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Query performance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Filter on partitioned columns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Denormalizing data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Use nested or repeated columns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Use external data sources appropriately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Don't use it, in case u want a high query performance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Reduce data before using a JOIN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Do not treat WITH clauses as prepared statements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Avoid oversharding tables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BigQuery-Best Practice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Query performance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Avoid JavaScript user-defined functions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Use approximate aggregation functions (HyperLogLog++)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Order Last, for query operations to maximize performance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Optimize your join patterns</a:t>
            </a:r>
            <a:endParaRPr/>
          </a:p>
          <a:p>
            <a: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/>
              <a:t>As a best practice, place the table with the largest number of rows first, followed by the table with the fewest rows, and then place the remaining tables by decreasing size.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Internals</a:t>
            </a:r>
            <a:endParaRPr/>
          </a:p>
        </p:txBody>
      </p:sp>
      <p:pic>
        <p:nvPicPr>
          <p:cNvPr id="166" name="Google Shape;16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249" y="487263"/>
            <a:ext cx="4420976" cy="416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Internals</a:t>
            </a:r>
            <a:endParaRPr/>
          </a:p>
        </p:txBody>
      </p:sp>
      <p:pic>
        <p:nvPicPr>
          <p:cNvPr id="172" name="Google Shape;17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925" y="1017725"/>
            <a:ext cx="7130150" cy="36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Internals</a:t>
            </a:r>
            <a:endParaRPr/>
          </a:p>
        </p:txBody>
      </p:sp>
      <p:pic>
        <p:nvPicPr>
          <p:cNvPr id="178" name="Google Shape;17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9450" y="1068649"/>
            <a:ext cx="6997199" cy="358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https://cloud.google.com/bigquery/docs/how-to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https://research.google/pubs/pub36632/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https://panoply.io/data-warehouse-guide/bigquery-architecture/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6"/>
              </a:rPr>
              <a:t>http://www.goldsborough.me/distributed-systems/2019/05/18/21-09-00-a_look_at_dremel/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in BigQuery</a:t>
            </a:r>
            <a:endParaRPr/>
          </a:p>
        </p:txBody>
      </p:sp>
      <p:sp>
        <p:nvSpPr>
          <p:cNvPr id="190" name="Google Shape;190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Target audience Data analysts, managers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need for Python or Java knowledge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need to export data into a different system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in BigQuery pricing</a:t>
            </a:r>
            <a:endParaRPr/>
          </a:p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Free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10 GB per month of data storage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 TB per month of queries processed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ML Create model step: First 10 GB per month is free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in BigQuery pricing</a:t>
            </a:r>
            <a:endParaRPr/>
          </a:p>
        </p:txBody>
      </p:sp>
      <p:pic>
        <p:nvPicPr>
          <p:cNvPr id="202" name="Google Shape;20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2" y="0"/>
            <a:ext cx="323941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in BigQuery</a:t>
            </a:r>
            <a:endParaRPr/>
          </a:p>
        </p:txBody>
      </p:sp>
      <p:sp>
        <p:nvSpPr>
          <p:cNvPr id="208" name="Google Shape;20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6400" y="983575"/>
            <a:ext cx="6818519" cy="375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in BigQuery</a:t>
            </a:r>
            <a:endParaRPr/>
          </a:p>
        </p:txBody>
      </p:sp>
      <p:sp>
        <p:nvSpPr>
          <p:cNvPr id="215" name="Google Shape;21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4925" y="57350"/>
            <a:ext cx="5574651" cy="488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